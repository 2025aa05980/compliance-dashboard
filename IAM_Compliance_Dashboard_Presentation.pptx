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217920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85E0DC"/>
                </a:solidFill>
                <a:latin typeface="Aptos"/>
              </a:defRPr>
            </a:pPr>
            <a:r>
              <a:t>IAM &amp; PAM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863840" cy="11430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Compliance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6492240" cy="7772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000" b="0">
                <a:solidFill>
                  <a:srgbClr val="DAE5EC"/>
                </a:solidFill>
                <a:latin typeface="Aptos"/>
              </a:defRPr>
            </a:pPr>
            <a:r>
              <a:t>A practical prototype for identity, privileged access,</a:t>
            </a:r>
            <a:br/>
            <a:r>
              <a:t>and asset compliance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658368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B7C9D5"/>
                </a:solidFill>
                <a:latin typeface="Aptos"/>
              </a:defRPr>
            </a:pPr>
            <a:r>
              <a:t>Technology overview | operating model | deployment | security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914400"/>
            <a:ext cx="1828800" cy="7315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08592" y="1828800"/>
            <a:ext cx="182880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000" b="1">
                <a:solidFill>
                  <a:srgbClr val="162B43"/>
                </a:solidFill>
                <a:latin typeface="Aptos"/>
              </a:defRPr>
            </a:pPr>
            <a:r>
              <a:t>DEMO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743200"/>
            <a:ext cx="1920240" cy="1554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Dash</a:t>
            </a:r>
            <a:br/>
            <a:r>
              <a:t>Python</a:t>
            </a:r>
            <a:br/>
            <a:r>
              <a:t>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Why this dashboard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338328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338328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55063"/>
            <a:ext cx="301752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Fragmented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017520" cy="2724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300" b="0">
                <a:solidFill>
                  <a:srgbClr val="212D3A"/>
                </a:solidFill>
                <a:latin typeface="Aptos"/>
              </a:defRPr>
            </a:pPr>
            <a:r>
              <a:t>IAM data is often spread across spreadsheets, asset inventories, PAM tools, and application records.</a:t>
            </a:r>
            <a:br/>
            <a:br/>
            <a:r>
              <a:t>This dashboard brings the posture into one operating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338328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338328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55063"/>
            <a:ext cx="301752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Risk-focused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17520" cy="2724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300" b="0">
                <a:solidFill>
                  <a:srgbClr val="212D3A"/>
                </a:solidFill>
                <a:latin typeface="Aptos"/>
              </a:defRPr>
            </a:pPr>
            <a:r>
              <a:t>Leaders need a fast answer to:</a:t>
            </a:r>
            <a:br/>
            <a:br/>
            <a:r>
              <a:t>• What is compliant?</a:t>
            </a:r>
            <a:br/>
            <a:r>
              <a:t>• What is exposed?</a:t>
            </a:r>
            <a:br/>
            <a:r>
              <a:t>• What needs remediation?</a:t>
            </a:r>
            <a:br/>
            <a:r>
              <a:t>• Which teams own the action?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429000" cy="338328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73152" cy="33832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55063"/>
            <a:ext cx="301752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Repeatable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3017520" cy="2724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300" b="0">
                <a:solidFill>
                  <a:srgbClr val="212D3A"/>
                </a:solidFill>
                <a:latin typeface="Aptos"/>
              </a:defRPr>
            </a:pPr>
            <a:r>
              <a:t>Consistent tables, charts, filters, and CSV/Excel exports support recurring reviews, audit preparation, and stakeholder conversations.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2000" b="1">
                <a:solidFill>
                  <a:srgbClr val="162B43"/>
                </a:solidFill>
                <a:latin typeface="Aptos"/>
              </a:defRPr>
            </a:pPr>
            <a:r>
              <a:t>Outcome: a single, role-aware view of IAM and PAM compliance posture.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HOW IT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63624"/>
            <a:ext cx="20574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205740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Core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17320"/>
            <a:ext cx="246888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417320"/>
            <a:ext cx="73152" cy="14173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563624"/>
            <a:ext cx="20574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Plotly Dash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947672"/>
            <a:ext cx="205740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Reactive web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17320"/>
            <a:ext cx="246888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73152" cy="1417320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63624"/>
            <a:ext cx="20574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Dash Bootstrap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947672"/>
            <a:ext cx="205740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Responsive layout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17320"/>
            <a:ext cx="246888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73152" cy="141732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563624"/>
            <a:ext cx="20574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Pandas +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947672"/>
            <a:ext cx="205740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29000"/>
            <a:ext cx="246888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429000"/>
            <a:ext cx="73152" cy="141732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575304"/>
            <a:ext cx="20574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Plotly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59352"/>
            <a:ext cx="205740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Interactive charts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429000"/>
            <a:ext cx="246888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3429000"/>
            <a:ext cx="73152" cy="141732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3575304"/>
            <a:ext cx="20574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openpyxl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3959352"/>
            <a:ext cx="205740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Excel export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429000"/>
            <a:ext cx="246888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429000"/>
            <a:ext cx="73152" cy="141732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575304"/>
            <a:ext cx="20574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Flask + Gunicorn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959352"/>
            <a:ext cx="205740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Web and production server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429000"/>
            <a:ext cx="246888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3429000"/>
            <a:ext cx="73152" cy="14173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3575304"/>
            <a:ext cx="20574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Render + GitHub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959352"/>
            <a:ext cx="205740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Deployment and source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700" b="1">
                <a:solidFill>
                  <a:srgbClr val="162B43"/>
                </a:solidFill>
                <a:latin typeface="Aptos"/>
              </a:defRPr>
            </a:pPr>
            <a:r>
              <a:t>Design principle: Python-native delivery with a replaceable data layer.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FROM DATA TO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828800"/>
            <a:ext cx="594360" cy="594360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94360" cy="5943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377440" cy="15087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73152" cy="15087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98064"/>
            <a:ext cx="196596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CSV /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82112"/>
            <a:ext cx="1965960" cy="8503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11 IAM and asset datasets</a:t>
            </a:r>
            <a:br/>
            <a:r>
              <a:t>Field visibility configuration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36392" y="1993392"/>
            <a:ext cx="384048" cy="256032"/>
          </a:xfrm>
          <a:prstGeom prst="rightArrow">
            <a:avLst/>
          </a:prstGeom>
          <a:solidFill>
            <a:srgbClr val="B4C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40" y="1828800"/>
            <a:ext cx="594360" cy="594360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28800"/>
            <a:ext cx="594360" cy="5943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651760"/>
            <a:ext cx="2377440" cy="15087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651760"/>
            <a:ext cx="73152" cy="15087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798064"/>
            <a:ext cx="196596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182112"/>
            <a:ext cx="1965960" cy="8503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Pandas loader</a:t>
            </a:r>
            <a:br/>
            <a:r>
              <a:t>Normalization and summaries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71032" y="1993392"/>
            <a:ext cx="384048" cy="256032"/>
          </a:xfrm>
          <a:prstGeom prst="rightArrow">
            <a:avLst/>
          </a:prstGeom>
          <a:solidFill>
            <a:srgbClr val="B4C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1828800"/>
            <a:ext cx="594360" cy="594360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594360" cy="5943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377440" cy="15087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651760"/>
            <a:ext cx="73152" cy="15087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798064"/>
            <a:ext cx="196596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Dash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82112"/>
            <a:ext cx="1965960" cy="8503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Role-based pages</a:t>
            </a:r>
            <a:br/>
            <a:r>
              <a:t>Charts, tables, filters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05672" y="1993392"/>
            <a:ext cx="384048" cy="256032"/>
          </a:xfrm>
          <a:prstGeom prst="rightArrow">
            <a:avLst/>
          </a:prstGeom>
          <a:solidFill>
            <a:srgbClr val="B4C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89720" y="1828800"/>
            <a:ext cx="594360" cy="594360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828800"/>
            <a:ext cx="594360" cy="5943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651760"/>
            <a:ext cx="2377440" cy="15087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2651760"/>
            <a:ext cx="73152" cy="15087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2798064"/>
            <a:ext cx="196596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182112"/>
            <a:ext cx="1965960" cy="8503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200" b="0">
                <a:solidFill>
                  <a:srgbClr val="212D3A"/>
                </a:solidFill>
                <a:latin typeface="Aptos"/>
              </a:defRPr>
            </a:pPr>
            <a:r>
              <a:t>CSV / Excel exports</a:t>
            </a:r>
            <a:br/>
            <a:r>
              <a:t>Operational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600" b="0">
                <a:solidFill>
                  <a:srgbClr val="5D6C7B"/>
                </a:solidFill>
                <a:latin typeface="Aptos"/>
              </a:defRPr>
            </a:pPr>
            <a:r>
              <a:t>The loader can later be replaced with SQLAlchemy, CyberArk APIs, or CMDB REST calls.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What the prototype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42519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2519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63624"/>
            <a:ext cx="3063239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Identity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3063239" cy="3593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Human accounts</a:t>
            </a:r>
            <a:br/>
            <a:r>
              <a:t>Privileged accounts</a:t>
            </a:r>
            <a:br/>
            <a:r>
              <a:t>Service accounts</a:t>
            </a:r>
            <a:br/>
            <a:r>
              <a:t>Bot accounts</a:t>
            </a:r>
            <a:br/>
            <a:r>
              <a:t>AI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42519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42519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563624"/>
            <a:ext cx="3063239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Asset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47672"/>
            <a:ext cx="3063239" cy="3593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Windows servers</a:t>
            </a:r>
            <a:br/>
            <a:r>
              <a:t>Linux servers</a:t>
            </a:r>
            <a:br/>
            <a:r>
              <a:t>Network devices</a:t>
            </a:r>
            <a:br/>
            <a:r>
              <a:t>Virtual / ESXi assets</a:t>
            </a:r>
            <a:br/>
            <a:r>
              <a:t>Applications</a:t>
            </a:r>
            <a:br/>
            <a:r>
              <a:t>Break-glass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42519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425196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63624"/>
            <a:ext cx="3063239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Operating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47672"/>
            <a:ext cx="3063239" cy="3593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Executive summary</a:t>
            </a:r>
            <a:br/>
            <a:r>
              <a:t>Compliance and risk charts</a:t>
            </a:r>
            <a:br/>
            <a:r>
              <a:t>Role-based navigation</a:t>
            </a:r>
            <a:br/>
            <a:r>
              <a:t>Field-level visibility</a:t>
            </a:r>
            <a:br/>
            <a:r>
              <a:t>Dynamic query</a:t>
            </a:r>
            <a:br/>
            <a:r>
              <a:t>CSV and Excel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Dynamic Query: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UNIQUE SEARCH AND EXPLORATION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1605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1605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63624"/>
            <a:ext cx="301752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Search across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3017520" cy="35021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400" b="0">
                <a:solidFill>
                  <a:srgbClr val="212D3A"/>
                </a:solidFill>
                <a:latin typeface="Aptos"/>
              </a:defRPr>
            </a:pPr>
            <a:r>
              <a:t>Choose any IAM or asset dataset, then filter by a relevant column and value.</a:t>
            </a:r>
            <a:br/>
            <a:br/>
            <a:r>
              <a:t>One experience spans identities, infrastructure, applications, and break-glass resources.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41605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416052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63624"/>
            <a:ext cx="301752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Turn records into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47672"/>
            <a:ext cx="3017520" cy="35021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400" b="0">
                <a:solidFill>
                  <a:srgbClr val="212D3A"/>
                </a:solidFill>
                <a:latin typeface="Aptos"/>
              </a:defRPr>
            </a:pPr>
            <a:r>
              <a:t>Group results by business unit, environment, account type, asset type, or other available field.</a:t>
            </a:r>
            <a:br/>
            <a:br/>
            <a:r>
              <a:t>Instantly see compliance and risk patterns in charts.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41605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416052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63624"/>
            <a:ext cx="301752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Take the result with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47672"/>
            <a:ext cx="3017520" cy="35021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400" b="0">
                <a:solidFill>
                  <a:srgbClr val="212D3A"/>
                </a:solidFill>
                <a:latin typeface="Aptos"/>
              </a:defRPr>
            </a:pPr>
            <a:r>
              <a:t>Review the filtered table, then export the exact query result to CSV or Excel.</a:t>
            </a:r>
            <a:br/>
            <a:br/>
            <a:r>
              <a:t>This supports investigations, evidence gathering, and focused remediation.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700" b="1">
                <a:solidFill>
                  <a:srgbClr val="162B43"/>
                </a:solidFill>
                <a:latin typeface="Aptos"/>
              </a:defRPr>
            </a:pPr>
            <a:r>
              <a:t>Workflow: Select dataset  &gt;  Filter  &gt;  Group  &gt;  Visualize  &gt; 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Role-based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WHO USES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417320"/>
            <a:ext cx="10149840" cy="8229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417320"/>
            <a:ext cx="146304" cy="82296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527048"/>
            <a:ext cx="219456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700" b="1">
                <a:solidFill>
                  <a:srgbClr val="162B43"/>
                </a:solidFill>
                <a:latin typeface="Aptos"/>
              </a:defRPr>
            </a:pPr>
            <a:r>
              <a:t>Executive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27048"/>
            <a:ext cx="694944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Enterprise posture and key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14600"/>
            <a:ext cx="10149840" cy="8229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514600"/>
            <a:ext cx="146304" cy="8229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624328"/>
            <a:ext cx="219456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700" b="1">
                <a:solidFill>
                  <a:srgbClr val="162B43"/>
                </a:solidFill>
                <a:latin typeface="Aptos"/>
              </a:defRPr>
            </a:pPr>
            <a:r>
              <a:t>Leadership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24328"/>
            <a:ext cx="694944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Cross-domain compliance oversight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611880"/>
            <a:ext cx="10149840" cy="8229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3611880"/>
            <a:ext cx="146304" cy="8229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721608"/>
            <a:ext cx="219456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700" b="1">
                <a:solidFill>
                  <a:srgbClr val="162B43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21608"/>
            <a:ext cx="694944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Detailed records and remediation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709159"/>
            <a:ext cx="10149840" cy="8229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4709159"/>
            <a:ext cx="146304" cy="82296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818888"/>
            <a:ext cx="219456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700" b="1">
                <a:solidFill>
                  <a:srgbClr val="162B43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18888"/>
            <a:ext cx="694944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Field visibility and user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500" b="0">
                <a:solidFill>
                  <a:srgbClr val="5D6C7B"/>
                </a:solidFill>
                <a:latin typeface="Aptos"/>
              </a:defRPr>
            </a:pPr>
            <a:r>
              <a:t>Visibility is tailored by role; production authorization should be enforced server-side as well.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Executive view and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214884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3000" b="1">
                <a:solidFill>
                  <a:srgbClr val="2A78D6"/>
                </a:solidFill>
                <a:latin typeface="Aptos"/>
              </a:defRPr>
            </a:pPr>
            <a:r>
              <a:t>1,090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148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t>simulated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08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719072"/>
            <a:ext cx="214884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3000" b="1">
                <a:solidFill>
                  <a:srgbClr val="00919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31720"/>
            <a:ext cx="2148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t>data 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08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19072"/>
            <a:ext cx="214884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3000" b="1">
                <a:solidFill>
                  <a:srgbClr val="0CA30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2148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t>dashboard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508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719072"/>
            <a:ext cx="214884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3000" b="1">
                <a:solidFill>
                  <a:srgbClr val="FAB21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331720"/>
            <a:ext cx="2148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t>user 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657600"/>
            <a:ext cx="480060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3657600"/>
            <a:ext cx="73152" cy="141732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03904"/>
            <a:ext cx="438912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Compliance posture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87952"/>
            <a:ext cx="438912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300" b="0">
                <a:solidFill>
                  <a:srgbClr val="212D3A"/>
                </a:solidFill>
                <a:latin typeface="Aptos"/>
              </a:defRPr>
            </a:pPr>
            <a:r>
              <a:t>Overall compliance, non-compliant records, exceptions, and not-assessed populations.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4800600" cy="141732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73152" cy="141732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803904"/>
            <a:ext cx="438912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Control posture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187952"/>
            <a:ext cx="4389120" cy="75895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300" b="0">
                <a:solidFill>
                  <a:srgbClr val="212D3A"/>
                </a:solidFill>
                <a:latin typeface="Aptos"/>
              </a:defRPr>
            </a:pPr>
            <a:r>
              <a:t>PAM onboarding, password management, authentication integration, and risk ratings.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Deployment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HOW TO SHARE THE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342900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429000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63624"/>
            <a:ext cx="2926079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2926079" cy="27706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400" b="0">
                <a:solidFill>
                  <a:srgbClr val="212D3A"/>
                </a:solidFill>
                <a:latin typeface="Aptos"/>
              </a:defRPr>
            </a:pPr>
            <a:r>
              <a:t>GitHub repository</a:t>
            </a:r>
            <a:br/>
            <a:br/>
            <a:r>
              <a:t>2025aa05980/compliance-dashboard</a:t>
            </a:r>
            <a:br/>
            <a:br/>
            <a:r>
              <a:t>Versioned source, requirements, data, and Render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342900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3429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63624"/>
            <a:ext cx="2926079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47672"/>
            <a:ext cx="2926079" cy="27706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400" b="0">
                <a:solidFill>
                  <a:srgbClr val="212D3A"/>
                </a:solidFill>
                <a:latin typeface="Aptos"/>
              </a:defRPr>
            </a:pPr>
            <a:r>
              <a:t>Render installs requirements.txt and runs:</a:t>
            </a:r>
            <a:br/>
            <a:br/>
            <a:r>
              <a:t>Gunicorn app:server</a:t>
            </a:r>
            <a:br/>
            <a:br/>
            <a:r>
              <a:t>The Dash WSGI server is exposed over HTTPS.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37560" cy="342900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3429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63624"/>
            <a:ext cx="2926079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47672"/>
            <a:ext cx="2926079" cy="27706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400" b="0">
                <a:solidFill>
                  <a:srgbClr val="212D3A"/>
                </a:solidFill>
                <a:latin typeface="Aptos"/>
              </a:defRPr>
            </a:pPr>
            <a:r>
              <a:t>Share the generated onrender.com URL with your office.</a:t>
            </a:r>
            <a:br/>
            <a:br/>
            <a:r>
              <a:t>The free service may sleep when idle, so the first request can be slower.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33272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700" b="1">
                <a:solidFill>
                  <a:srgbClr val="D03B3B"/>
                </a:solidFill>
                <a:latin typeface="Aptos"/>
              </a:defRPr>
            </a:pPr>
            <a:r>
              <a:t>Recommended for prototype demonstrations; use private enterprise hosting for sensitive IAM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Security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IMPORTANT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406908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06908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63624"/>
            <a:ext cx="48006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Current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800600" cy="34107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• Demo credentials in project data</a:t>
            </a:r>
            <a:br/>
            <a:r>
              <a:t>• Session-based browser state</a:t>
            </a:r>
            <a:br/>
            <a:r>
              <a:t>• CSV-backed sample data</a:t>
            </a:r>
            <a:br/>
            <a:r>
              <a:t>• UI role filtering</a:t>
            </a:r>
            <a:br/>
            <a:r>
              <a:t>• Suitable for non-sensitive demonstrations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12080" cy="4069080"/>
          </a:xfrm>
          <a:prstGeom prst="roundRect">
            <a:avLst/>
          </a:prstGeom>
          <a:solidFill>
            <a:srgbClr val="F3F7F8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06908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63624"/>
            <a:ext cx="480060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1">
                <a:solidFill>
                  <a:srgbClr val="162B43"/>
                </a:solidFill>
                <a:latin typeface="Aptos"/>
              </a:defRPr>
            </a:pPr>
            <a:r>
              <a:t>Production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4800600" cy="34107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212D3A"/>
                </a:solidFill>
                <a:latin typeface="Aptos"/>
              </a:defRPr>
            </a:pPr>
            <a:r>
              <a:t>• Entra ID / Okta SSO and MFA</a:t>
            </a:r>
            <a:br/>
            <a:r>
              <a:t>• Server-side signed sessions</a:t>
            </a:r>
            <a:br/>
            <a:r>
              <a:t>• Backend authorization on callbacks</a:t>
            </a:r>
            <a:br/>
            <a:r>
              <a:t>• Hashed credentials or no local passwords</a:t>
            </a:r>
            <a:br/>
            <a:r>
              <a:t>• Secure database / APIs</a:t>
            </a:r>
            <a:br/>
            <a:r>
              <a:t>• Audit logs, secrets management, private hosting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t>Conclusion: Dash is a reasonable internal dashboard framework; this implementation requires hardening before restricted production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36576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0">
                <a:solidFill>
                  <a:srgbClr val="5D6C7B"/>
                </a:solidFill>
                <a:latin typeface="Aptos"/>
              </a:defRPr>
            </a:pPr>
            <a:r>
              <a:t>IAM Compliance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>
              <a:defRPr sz="800" b="0">
                <a:solidFill>
                  <a:srgbClr val="5D6C7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700" b="1">
                <a:solidFill>
                  <a:srgbClr val="162B43"/>
                </a:solidFill>
                <a:latin typeface="Aptos"/>
              </a:defRPr>
            </a:pPr>
            <a: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"/>
            <a:ext cx="109728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800" b="1">
                <a:solidFill>
                  <a:srgbClr val="009196"/>
                </a:solidFill>
                <a:latin typeface="Aptos"/>
              </a:defRPr>
            </a:pPr>
            <a:r>
              <a:t>FROM PROTOTYPE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24128"/>
            <a:ext cx="658368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59436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000" b="1">
                <a:solidFill>
                  <a:srgbClr val="85E0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80160"/>
            <a:ext cx="23774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Secure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6217920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DAE5EC"/>
                </a:solidFill>
                <a:latin typeface="Aptos"/>
              </a:defRPr>
            </a:pPr>
            <a:r>
              <a:t>Integrate corporate SSO, MFA, and conditional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9436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000" b="1">
                <a:solidFill>
                  <a:srgbClr val="85E0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23774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Secure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6217920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DAE5EC"/>
                </a:solidFill>
                <a:latin typeface="Aptos"/>
              </a:defRPr>
            </a:pPr>
            <a:r>
              <a:t>Move from CSV files to approved database or governed APIs.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79"/>
            <a:ext cx="59436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000" b="1">
                <a:solidFill>
                  <a:srgbClr val="85E0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83279"/>
            <a:ext cx="23774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Enforce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79"/>
            <a:ext cx="6217920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DAE5EC"/>
                </a:solidFill>
                <a:latin typeface="Aptos"/>
              </a:defRPr>
            </a:pPr>
            <a:r>
              <a:t>Validate role permissions on every server-side 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594360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2000" b="1">
                <a:solidFill>
                  <a:srgbClr val="85E0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34840"/>
            <a:ext cx="23774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Operate and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434840"/>
            <a:ext cx="6217920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>
              <a:defRPr sz="1500" b="0">
                <a:solidFill>
                  <a:srgbClr val="DAE5EC"/>
                </a:solidFill>
                <a:latin typeface="Aptos"/>
              </a:defRPr>
            </a:pPr>
            <a:r>
              <a:t>Add logs, monitoring, backups, and review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